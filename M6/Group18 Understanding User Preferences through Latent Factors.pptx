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erif Display" pitchFamily="2" charset="0"/>
      <p:regular r:id="rId14"/>
      <p:italic r:id="rId15"/>
    </p:embeddedFont>
    <p:embeddedFont>
      <p:font typeface="Plus Jakarta Sans" panose="02010600030101010101" charset="0"/>
      <p:regular r:id="rId16"/>
      <p:bold r:id="rId17"/>
      <p:italic r:id="rId18"/>
      <p:boldItalic r:id="rId19"/>
    </p:embeddedFont>
    <p:embeddedFont>
      <p:font typeface="Plus Jakarta Sans Medium" panose="02010600030101010101" charset="0"/>
      <p:regular r:id="rId20"/>
      <p:bold r:id="rId21"/>
      <p:italic r:id="rId22"/>
      <p:boldItalic r:id="rId23"/>
    </p:embeddedFont>
    <p:embeddedFont>
      <p:font typeface="Plus Jakarta Sans SemiBold" panose="02010600030101010101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6B24EE-0E68-4FE5-B13A-0F21683E1A1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514" y="72"/>
      </p:cViewPr>
      <p:guideLst>
        <p:guide orient="horz" pos="21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2.png"/><Relationship Id="rId10" Type="http://schemas.openxmlformats.org/officeDocument/2006/relationships/image" Target="../media/image4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3.png"/><Relationship Id="rId5" Type="http://schemas.openxmlformats.org/officeDocument/2006/relationships/image" Target="../media/image37.png"/><Relationship Id="rId10" Type="http://schemas.openxmlformats.org/officeDocument/2006/relationships/image" Target="../media/image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585787"/>
            <a:ext cx="15716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05301" y="2651819"/>
            <a:ext cx="1118139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Understanding User Preferences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37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through Latent Factors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3937694"/>
            <a:ext cx="10648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2E5B8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Evaluating Matrix Factorization vs. Neighborhood-Based Collaborative Filtering on MovieLens 100K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4326284"/>
            <a:ext cx="106489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7657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CHANG LIU · BOLUN FENG · JIAJIN GUO · SHIXUAN LI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640080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JUNE 2026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10725150" y="6400800"/>
            <a:ext cx="6953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 OF 11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957262" y="572812"/>
            <a:ext cx="104155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25" b="0" i="0" u="none" strike="noStrike" cap="none" dirty="0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INFO 442 · </a:t>
            </a:r>
            <a:r>
              <a:rPr lang="zh-CN" altLang="zh-CN" sz="825" dirty="0">
                <a:solidFill>
                  <a:srgbClr val="2E5B82"/>
                </a:solidFill>
                <a:latin typeface="Plus Jakarta Sans SemiBold"/>
                <a:cs typeface="Plus Jakarta Sans SemiBold"/>
              </a:rPr>
              <a:t>Data Science Projects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25" b="0" i="0" u="none" strike="noStrike" cap="none" dirty="0">
              <a:solidFill>
                <a:srgbClr val="2E5B8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99745"/>
            <a:ext cx="37147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585787"/>
            <a:ext cx="128587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71525" y="6400800"/>
            <a:ext cx="13049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PROBLEM SCOPING</a:t>
            </a:r>
          </a:p>
        </p:txBody>
      </p:sp>
      <p:sp>
        <p:nvSpPr>
          <p:cNvPr id="102" name="Google Shape;102;p14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 OF 11</a:t>
            </a:r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2785169"/>
            <a:ext cx="511016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Streaming platforms curate massive catalogs, creating severe 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information overload</a:t>
            </a:r>
            <a:r>
              <a:rPr lang="en-US" sz="1200" b="0" i="0" u="none" strike="noStrike" cap="none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for end consumers.</a:t>
            </a:r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3444180"/>
            <a:ext cx="4881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Key Catalyst: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 80% of all video plays are driven directly by recommended pipelines on major networks.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4034730"/>
            <a:ext cx="4881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Scientific Inquiry: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 low-rank latent factor representations outmatch standard localized neighbor metrics?</a:t>
            </a:r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4625280"/>
            <a:ext cx="4881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Hypothesis: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Matrix Factorization maps sparsity (93.7%) better by compressing profiles into robust lower-dimensional spaces.</a:t>
            </a:r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348704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407759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4668142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76312" y="581025"/>
            <a:ext cx="104441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BACKGROUND SCOPING</a:t>
            </a:r>
          </a:p>
        </p:txBody>
      </p:sp>
      <p:sp>
        <p:nvSpPr>
          <p:cNvPr id="115" name="Google Shape;115;p14"/>
          <p:cNvSpPr txBox="1"/>
          <p:nvPr/>
        </p:nvSpPr>
        <p:spPr>
          <a:xfrm>
            <a:off x="771525" y="819150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CN" altLang="zh-CN" sz="2850" dirty="0">
                <a:solidFill>
                  <a:srgbClr val="1E293B"/>
                </a:solidFill>
                <a:latin typeface="DM Serif Display"/>
              </a:rPr>
              <a:t>The Data Science Challenge: Information Overload</a:t>
            </a:r>
            <a:endParaRPr lang="en-US" sz="2850" dirty="0">
              <a:solidFill>
                <a:srgbClr val="1E293B"/>
              </a:solidFill>
              <a:latin typeface="DM Serif Display"/>
              <a:sym typeface="DM Serif Display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99745"/>
            <a:ext cx="371475" cy="857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FB05C7-EBF6-77CC-CD28-33AFC56D45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7183" y="2862262"/>
            <a:ext cx="5161511" cy="2430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63816" y="48648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627927" y="48648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675528" y="48648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753600" y="4870450"/>
            <a:ext cx="381000" cy="42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786606" y="48705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771525" y="585787"/>
            <a:ext cx="11906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71525" y="6400800"/>
            <a:ext cx="1095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DATASET &amp; PIPELINE</a:t>
            </a:r>
          </a:p>
        </p:txBody>
      </p:sp>
      <p:sp>
        <p:nvSpPr>
          <p:cNvPr id="130" name="Google Shape;130;p15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 OF 11</a:t>
            </a:r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2525315"/>
            <a:ext cx="53656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MovieLens 100K Profile</a:t>
            </a:r>
          </a:p>
        </p:txBody>
      </p:sp>
      <p:graphicFrame>
        <p:nvGraphicFramePr>
          <p:cNvPr id="132" name="Google Shape;132;p15"/>
          <p:cNvGraphicFramePr/>
          <p:nvPr/>
        </p:nvGraphicFramePr>
        <p:xfrm>
          <a:off x="771525" y="2906315"/>
          <a:ext cx="5110175" cy="2569350"/>
        </p:xfrm>
        <a:graphic>
          <a:graphicData uri="http://schemas.openxmlformats.org/drawingml/2006/table">
            <a:tbl>
              <a:tblPr firstRow="1" bandRow="1">
                <a:noFill/>
                <a:tableStyleId>{696B24EE-0E68-4FE5-B13A-0F21683E1A15}</a:tableStyleId>
              </a:tblPr>
              <a:tblGrid>
                <a:gridCol w="189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 / Attribute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Audited Users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943 Active Consumers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Catalog Size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1,682 Movies Index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Observations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100,000 Verified Explicit Ratings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Sparsity Index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C5A05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93.7% Sparse Matrix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Split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u1.base (80k Train) / u1.test (20k Test)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" name="Google Shape;133;p15"/>
          <p:cNvSpPr/>
          <p:nvPr/>
        </p:nvSpPr>
        <p:spPr>
          <a:xfrm>
            <a:off x="771525" y="3285380"/>
            <a:ext cx="1893540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665065" y="3285380"/>
            <a:ext cx="3216622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310312" y="2525315"/>
            <a:ext cx="536567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Execution Timeline</a:t>
            </a:r>
          </a:p>
        </p:txBody>
      </p:sp>
      <p:sp>
        <p:nvSpPr>
          <p:cNvPr id="136" name="Google Shape;136;p15"/>
          <p:cNvSpPr txBox="1"/>
          <p:nvPr/>
        </p:nvSpPr>
        <p:spPr>
          <a:xfrm>
            <a:off x="6310312" y="2925365"/>
            <a:ext cx="5110162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pipeline strictly adhered to standard collaborative systems engineering steps from acquisition to benchmarking.</a:t>
            </a:r>
          </a:p>
        </p:txBody>
      </p:sp>
      <p:sp>
        <p:nvSpPr>
          <p:cNvPr id="138" name="Google Shape;138;p15"/>
          <p:cNvSpPr/>
          <p:nvPr/>
        </p:nvSpPr>
        <p:spPr>
          <a:xfrm>
            <a:off x="771525" y="3732014"/>
            <a:ext cx="1893540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2665065" y="3732014"/>
            <a:ext cx="321662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71525" y="4164359"/>
            <a:ext cx="1893540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2665065" y="4164359"/>
            <a:ext cx="321662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771525" y="4596705"/>
            <a:ext cx="1893540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2665065" y="4596705"/>
            <a:ext cx="321662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771525" y="5029051"/>
            <a:ext cx="1893540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665065" y="5029051"/>
            <a:ext cx="321662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771525" y="5461396"/>
            <a:ext cx="1893540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665065" y="5461396"/>
            <a:ext cx="321662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287318" y="5285184"/>
            <a:ext cx="96574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Scoping</a:t>
            </a:r>
          </a:p>
        </p:txBody>
      </p:sp>
      <p:sp>
        <p:nvSpPr>
          <p:cNvPr id="149" name="Google Shape;149;p15"/>
          <p:cNvSpPr txBox="1"/>
          <p:nvPr/>
        </p:nvSpPr>
        <p:spPr>
          <a:xfrm>
            <a:off x="7334919" y="5285184"/>
            <a:ext cx="96574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Clean</a:t>
            </a:r>
          </a:p>
        </p:txBody>
      </p:sp>
      <p:sp>
        <p:nvSpPr>
          <p:cNvPr id="150" name="Google Shape;150;p15"/>
          <p:cNvSpPr txBox="1"/>
          <p:nvPr/>
        </p:nvSpPr>
        <p:spPr>
          <a:xfrm>
            <a:off x="8382520" y="5285184"/>
            <a:ext cx="96574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EDA</a:t>
            </a:r>
          </a:p>
        </p:txBody>
      </p:sp>
      <p:sp>
        <p:nvSpPr>
          <p:cNvPr id="151" name="Google Shape;151;p15"/>
          <p:cNvSpPr txBox="1"/>
          <p:nvPr/>
        </p:nvSpPr>
        <p:spPr>
          <a:xfrm>
            <a:off x="9430122" y="5285184"/>
            <a:ext cx="96574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Models</a:t>
            </a:r>
          </a:p>
        </p:txBody>
      </p:sp>
      <p:sp>
        <p:nvSpPr>
          <p:cNvPr id="152" name="Google Shape;152;p15"/>
          <p:cNvSpPr txBox="1"/>
          <p:nvPr/>
        </p:nvSpPr>
        <p:spPr>
          <a:xfrm>
            <a:off x="10477723" y="5285184"/>
            <a:ext cx="96574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Deploy</a:t>
            </a:r>
          </a:p>
        </p:txBody>
      </p:sp>
      <p:sp>
        <p:nvSpPr>
          <p:cNvPr id="153" name="Google Shape;153;p15"/>
          <p:cNvSpPr txBox="1"/>
          <p:nvPr/>
        </p:nvSpPr>
        <p:spPr>
          <a:xfrm>
            <a:off x="966787" y="581025"/>
            <a:ext cx="104536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RESEARCH ARTIFACTS</a:t>
            </a:r>
          </a:p>
        </p:txBody>
      </p:sp>
      <p:sp>
        <p:nvSpPr>
          <p:cNvPr id="154" name="Google Shape;154;p15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Overview &amp; Project Pipeline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495300"/>
            <a:ext cx="371475" cy="85725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122" idx="3"/>
            <a:endCxn id="123" idx="1"/>
          </p:cNvCxnSpPr>
          <p:nvPr/>
        </p:nvCxnSpPr>
        <p:spPr>
          <a:xfrm>
            <a:off x="6944995" y="5055235"/>
            <a:ext cx="682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008620" y="5055235"/>
            <a:ext cx="682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063355" y="5055235"/>
            <a:ext cx="682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142220" y="5055235"/>
            <a:ext cx="682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585787"/>
            <a:ext cx="15716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771525" y="640080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DATA CLEANING</a:t>
            </a:r>
          </a:p>
        </p:txBody>
      </p:sp>
      <p:sp>
        <p:nvSpPr>
          <p:cNvPr id="165" name="Google Shape;165;p16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4 OF 11</a:t>
            </a:r>
          </a:p>
        </p:txBody>
      </p:sp>
      <p:sp>
        <p:nvSpPr>
          <p:cNvPr id="166" name="Google Shape;166;p16"/>
          <p:cNvSpPr txBox="1"/>
          <p:nvPr/>
        </p:nvSpPr>
        <p:spPr>
          <a:xfrm>
            <a:off x="771525" y="2505075"/>
            <a:ext cx="511016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Consolidated relational schema entities (</a:t>
            </a:r>
            <a:r>
              <a:rPr lang="en-US" sz="1125" b="0" i="0" u="none" strike="noStrike" cap="none" dirty="0" err="1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u.data</a:t>
            </a: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, </a:t>
            </a:r>
            <a:r>
              <a:rPr lang="en-US" sz="1125" b="0" i="0" u="none" strike="noStrike" cap="none" dirty="0" err="1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u.item</a:t>
            </a: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, </a:t>
            </a:r>
            <a:r>
              <a:rPr lang="en-US" sz="1125" b="0" i="0" u="none" strike="noStrike" cap="none" dirty="0" err="1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u.user</a:t>
            </a:r>
            <a:r>
              <a:rPr lang="en-US" sz="1125" dirty="0">
                <a:solidFill>
                  <a:srgbClr val="1E293B"/>
                </a:solidFill>
                <a:latin typeface="Plus Jakarta Sans Medium"/>
                <a:cs typeface="Plus Jakarta Sans Medium"/>
                <a:sym typeface="Plus Jakarta Sans Medium"/>
              </a:rPr>
              <a:t>, </a:t>
            </a:r>
            <a:r>
              <a:rPr lang="zh-CN" altLang="zh-CN" sz="1125" dirty="0">
                <a:solidFill>
                  <a:srgbClr val="1E293B"/>
                </a:solidFill>
                <a:latin typeface="Plus Jakarta Sans Medium"/>
                <a:cs typeface="Plus Jakarta Sans Medium"/>
              </a:rPr>
              <a:t>u.genre</a:t>
            </a: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) to secure structural parity before training models.</a:t>
            </a:r>
          </a:p>
        </p:txBody>
      </p:sp>
      <p:sp>
        <p:nvSpPr>
          <p:cNvPr id="167" name="Google Shape;167;p16"/>
          <p:cNvSpPr txBox="1"/>
          <p:nvPr/>
        </p:nvSpPr>
        <p:spPr>
          <a:xfrm>
            <a:off x="1000125" y="3105150"/>
            <a:ext cx="4881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Referential Integrity: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Validated indices, confirming zero missing entries across user-movie joins.</a:t>
            </a:r>
          </a:p>
        </p:txBody>
      </p:sp>
      <p:sp>
        <p:nvSpPr>
          <p:cNvPr id="168" name="Google Shape;168;p16"/>
          <p:cNvSpPr txBox="1"/>
          <p:nvPr/>
        </p:nvSpPr>
        <p:spPr>
          <a:xfrm>
            <a:off x="1000125" y="3695700"/>
            <a:ext cx="48815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Parity Check:</a:t>
            </a:r>
            <a:r>
              <a:rPr lang="en-US" sz="112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Verified rating constraints ∈ [1, 5] bounds (0 records discarded).</a:t>
            </a:r>
          </a:p>
        </p:txBody>
      </p:sp>
      <p:sp>
        <p:nvSpPr>
          <p:cNvPr id="169" name="Google Shape;169;p16"/>
          <p:cNvSpPr txBox="1"/>
          <p:nvPr/>
        </p:nvSpPr>
        <p:spPr>
          <a:xfrm>
            <a:off x="1000125" y="4286250"/>
            <a:ext cx="488156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Feature Augmentation: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Appended rating_date (POSIX to datetime) and release_year.</a:t>
            </a:r>
          </a:p>
        </p:txBody>
      </p:sp>
      <p:sp>
        <p:nvSpPr>
          <p:cNvPr id="170" name="Google Shape;170;p16"/>
          <p:cNvSpPr txBox="1"/>
          <p:nvPr/>
        </p:nvSpPr>
        <p:spPr>
          <a:xfrm>
            <a:off x="1000125" y="4895850"/>
            <a:ext cx="4881562" cy="83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Final Asset: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Static exports in ml100k_clean.csv with minor missing values (&lt;0.01% on release data,</a:t>
            </a:r>
            <a:r>
              <a:rPr lang="en-US" altLang="zh-CN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100,000 records × 12 engineered features)</a:t>
            </a:r>
          </a:p>
        </p:txBody>
      </p:sp>
      <p:pic>
        <p:nvPicPr>
          <p:cNvPr id="175" name="Google Shape;175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31480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373856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43291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4938712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1004887" y="581025"/>
            <a:ext cx="104155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FEATURE ENGINEERING</a:t>
            </a:r>
          </a:p>
        </p:txBody>
      </p:sp>
      <p:sp>
        <p:nvSpPr>
          <p:cNvPr id="180" name="Google Shape;180;p16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From Raw Data to Clean Dataset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527685"/>
            <a:ext cx="371475" cy="857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6A8B0A-1323-1C22-740E-844E7EB4A9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366" y="2286000"/>
            <a:ext cx="4697650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4626610"/>
            <a:ext cx="5621020" cy="105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585787"/>
            <a:ext cx="128587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771525" y="6400800"/>
            <a:ext cx="135255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EXPLORATORY FINDINGS</a:t>
            </a:r>
          </a:p>
        </p:txBody>
      </p:sp>
      <p:sp>
        <p:nvSpPr>
          <p:cNvPr id="195" name="Google Shape;195;p17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5 OF 11</a:t>
            </a:r>
          </a:p>
        </p:txBody>
      </p:sp>
      <p:sp>
        <p:nvSpPr>
          <p:cNvPr id="196" name="Google Shape;196;p17"/>
          <p:cNvSpPr txBox="1"/>
          <p:nvPr/>
        </p:nvSpPr>
        <p:spPr>
          <a:xfrm>
            <a:off x="771525" y="2711797"/>
            <a:ext cx="590214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Rating Behavior &amp; Demographics</a:t>
            </a:r>
          </a:p>
        </p:txBody>
      </p:sp>
      <p:sp>
        <p:nvSpPr>
          <p:cNvPr id="197" name="Google Shape;197;p17"/>
          <p:cNvSpPr txBox="1"/>
          <p:nvPr/>
        </p:nvSpPr>
        <p:spPr>
          <a:xfrm>
            <a:off x="1000125" y="3073747"/>
            <a:ext cx="539248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Positive Skewness: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 score concentration exists. Stars (4 &amp; 5) comprise 55.4% of ratings, while 1-star ranks only 6.1%.</a:t>
            </a:r>
          </a:p>
        </p:txBody>
      </p:sp>
      <p:sp>
        <p:nvSpPr>
          <p:cNvPr id="198" name="Google Shape;198;p17"/>
          <p:cNvSpPr txBox="1"/>
          <p:nvPr/>
        </p:nvSpPr>
        <p:spPr>
          <a:xfrm>
            <a:off x="1000125" y="3664297"/>
            <a:ext cx="53924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Central Tendency: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Global baseline average stands high at </a:t>
            </a: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3.53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sp>
        <p:nvSpPr>
          <p:cNvPr id="199" name="Google Shape;199;p17"/>
          <p:cNvSpPr txBox="1"/>
          <p:nvPr/>
        </p:nvSpPr>
        <p:spPr>
          <a:xfrm>
            <a:off x="1000125" y="4026247"/>
            <a:ext cx="539248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Demographic Skew:</a:t>
            </a:r>
            <a:r>
              <a:rPr lang="en-US" sz="112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Active reviewers center at 25 years old. 74% are male, and student jobs comprise 22% of total scores.</a:t>
            </a:r>
          </a:p>
        </p:txBody>
      </p:sp>
      <p:sp>
        <p:nvSpPr>
          <p:cNvPr id="200" name="Google Shape;200;p17"/>
          <p:cNvSpPr txBox="1"/>
          <p:nvPr/>
        </p:nvSpPr>
        <p:spPr>
          <a:xfrm>
            <a:off x="933450" y="4759672"/>
            <a:ext cx="5325814" cy="72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Key Hypothesis Shift:</a:t>
            </a:r>
            <a:r>
              <a:rPr lang="en-US" sz="975" b="0" i="0" u="none" strike="noStrike" cap="none" dirty="0">
                <a:solidFill>
                  <a:srgbClr val="2E5B8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975" b="0" i="0" u="none" strike="noStrike" cap="none" dirty="0">
                <a:solidFill>
                  <a:srgbClr val="2E5B82"/>
                </a:solidFill>
                <a:latin typeface="+mn-lt"/>
                <a:ea typeface="Plus Jakarta Sans Medium"/>
                <a:cs typeface="Plus Jakarta Sans Medium"/>
                <a:sym typeface="Plus Jakarta Sans Medium"/>
              </a:rPr>
              <a:t>Older cohort targets score more generously. Classic movies score consistently higher than modern 1990s counterparts due to survival/nostalgia bias. G</a:t>
            </a:r>
            <a:r>
              <a:rPr lang="en-US" altLang="zh-CN" sz="975" b="0" i="0" u="none" strike="noStrike" cap="none" dirty="0">
                <a:solidFill>
                  <a:srgbClr val="2E5B82"/>
                </a:solidFill>
                <a:latin typeface="+mn-lt"/>
                <a:ea typeface="Plus Jakarta Sans Medium"/>
                <a:cs typeface="Plus Jakarta Sans Medium"/>
                <a:sym typeface="Plus Jakarta Sans Medium"/>
              </a:rPr>
              <a:t>ender proved to have a marginally weak effect on ratings...</a:t>
            </a:r>
          </a:p>
        </p:txBody>
      </p:sp>
      <p:pic>
        <p:nvPicPr>
          <p:cNvPr id="205" name="Google Shape;205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71525" y="311660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71525" y="370715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71525" y="4069109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/>
        </p:nvSpPr>
        <p:spPr>
          <a:xfrm>
            <a:off x="976312" y="581025"/>
            <a:ext cx="104441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EXPLORATORY DATA ANALYSIS</a:t>
            </a:r>
          </a:p>
        </p:txBody>
      </p:sp>
      <p:sp>
        <p:nvSpPr>
          <p:cNvPr id="209" name="Google Shape;209;p17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Key EDA Findings (M4)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95300"/>
            <a:ext cx="371475" cy="85725"/>
          </a:xfrm>
          <a:prstGeom prst="rect">
            <a:avLst/>
          </a:prstGeom>
        </p:spPr>
      </p:pic>
      <p:pic>
        <p:nvPicPr>
          <p:cNvPr id="4" name="图片 0" descr="01_rating_distribu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8665" y="965835"/>
            <a:ext cx="4450715" cy="2463165"/>
          </a:xfrm>
          <a:prstGeom prst="rect">
            <a:avLst/>
          </a:prstGeom>
        </p:spPr>
      </p:pic>
      <p:pic>
        <p:nvPicPr>
          <p:cNvPr id="3" name="图片 2" descr="10_genre_decade_heatma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8665" y="3429000"/>
            <a:ext cx="4450715" cy="2401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332315" y="2651670"/>
            <a:ext cx="4088159" cy="2697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585787"/>
            <a:ext cx="10001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771525" y="64008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METHODOLOGICAL RATIONALE</a:t>
            </a:r>
          </a:p>
        </p:txBody>
      </p:sp>
      <p:sp>
        <p:nvSpPr>
          <p:cNvPr id="222" name="Google Shape;222;p18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6 OF 11</a:t>
            </a:r>
          </a:p>
        </p:txBody>
      </p:sp>
      <p:sp>
        <p:nvSpPr>
          <p:cNvPr id="224" name="Google Shape;224;p18"/>
          <p:cNvSpPr txBox="1"/>
          <p:nvPr/>
        </p:nvSpPr>
        <p:spPr>
          <a:xfrm>
            <a:off x="7532340" y="3165127"/>
            <a:ext cx="387251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5B8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Evaluation Targets</a:t>
            </a:r>
          </a:p>
        </p:txBody>
      </p:sp>
      <p:sp>
        <p:nvSpPr>
          <p:cNvPr id="225" name="Google Shape;225;p18"/>
          <p:cNvSpPr txBox="1"/>
          <p:nvPr/>
        </p:nvSpPr>
        <p:spPr>
          <a:xfrm>
            <a:off x="7532340" y="3498502"/>
            <a:ext cx="3688109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test against two separate criteria families using a held-out test split:</a:t>
            </a:r>
          </a:p>
        </p:txBody>
      </p:sp>
      <p:sp>
        <p:nvSpPr>
          <p:cNvPr id="226" name="Google Shape;226;p18"/>
          <p:cNvSpPr txBox="1"/>
          <p:nvPr/>
        </p:nvSpPr>
        <p:spPr>
          <a:xfrm>
            <a:off x="7532340" y="3986063"/>
            <a:ext cx="3688109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Group A (Rating Error):</a:t>
            </a:r>
            <a:r>
              <a:rPr lang="en-US" sz="97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Root Mean Squared Error (RMSE) &amp; Mean Absolute Error (MAE).</a:t>
            </a:r>
          </a:p>
        </p:txBody>
      </p:sp>
      <p:sp>
        <p:nvSpPr>
          <p:cNvPr id="227" name="Google Shape;227;p18"/>
          <p:cNvSpPr txBox="1"/>
          <p:nvPr/>
        </p:nvSpPr>
        <p:spPr>
          <a:xfrm>
            <a:off x="7532340" y="4439394"/>
            <a:ext cx="3688109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Group B (Discovery List):</a:t>
            </a:r>
            <a:r>
              <a:rPr lang="en-US" sz="97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Precision@10 &amp; Recall@10 (evaluating items with score ≥ 4).</a:t>
            </a:r>
          </a:p>
        </p:txBody>
      </p:sp>
      <p:sp>
        <p:nvSpPr>
          <p:cNvPr id="242" name="Google Shape;242;p18"/>
          <p:cNvSpPr txBox="1"/>
          <p:nvPr/>
        </p:nvSpPr>
        <p:spPr>
          <a:xfrm>
            <a:off x="947737" y="581025"/>
            <a:ext cx="1047273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ARCHITECTURE DESIGN</a:t>
            </a:r>
          </a:p>
        </p:txBody>
      </p:sp>
      <p:sp>
        <p:nvSpPr>
          <p:cNvPr id="243" name="Google Shape;243;p18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Three Models, Two Evaluation Goals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" y="2667635"/>
            <a:ext cx="6007100" cy="2682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99745"/>
            <a:ext cx="37147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4680495"/>
            <a:ext cx="2520404" cy="56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368129" y="4680495"/>
            <a:ext cx="3024485" cy="56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71525" y="585787"/>
            <a:ext cx="11906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771525" y="6400800"/>
            <a:ext cx="14192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BENCHMARKING METRICS</a:t>
            </a:r>
          </a:p>
        </p:txBody>
      </p:sp>
      <p:sp>
        <p:nvSpPr>
          <p:cNvPr id="256" name="Google Shape;256;p19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7 OF 11</a:t>
            </a:r>
          </a:p>
        </p:txBody>
      </p:sp>
      <p:graphicFrame>
        <p:nvGraphicFramePr>
          <p:cNvPr id="257" name="Google Shape;257;p19"/>
          <p:cNvGraphicFramePr/>
          <p:nvPr/>
        </p:nvGraphicFramePr>
        <p:xfrm>
          <a:off x="771525" y="2832943"/>
          <a:ext cx="5621100" cy="1704700"/>
        </p:xfrm>
        <a:graphic>
          <a:graphicData uri="http://schemas.openxmlformats.org/drawingml/2006/table">
            <a:tbl>
              <a:tblPr firstRow="1" bandRow="1">
                <a:noFill/>
                <a:tableStyleId>{696B24EE-0E68-4FE5-B13A-0F21683E1A15}</a:tableStyleId>
              </a:tblPr>
              <a:tblGrid>
                <a:gridCol w="232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 Framework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RMSE↓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MAE↓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P@10↑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R@10↑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Bias Baseline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0.977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0.766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0.009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0.003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Item-Based CF (k=30)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0.962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0.751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0.062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0.014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Matrix Factorization (k=40)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C5A05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0.959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C5A05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0.750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0.025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0.008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8" name="Google Shape;258;p19"/>
          <p:cNvSpPr/>
          <p:nvPr/>
        </p:nvSpPr>
        <p:spPr>
          <a:xfrm>
            <a:off x="771525" y="3212008"/>
            <a:ext cx="2320081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091606" y="3212008"/>
            <a:ext cx="857398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3949005" y="3212008"/>
            <a:ext cx="784473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733478" y="3212008"/>
            <a:ext cx="823763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557242" y="3212008"/>
            <a:ext cx="835372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771525" y="3658641"/>
            <a:ext cx="2320081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3091606" y="3658641"/>
            <a:ext cx="857398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3949005" y="3658641"/>
            <a:ext cx="784473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4733478" y="3658641"/>
            <a:ext cx="823763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5557242" y="3658641"/>
            <a:ext cx="83537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771525" y="4090987"/>
            <a:ext cx="2320081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3091606" y="4090987"/>
            <a:ext cx="857398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3949005" y="4090987"/>
            <a:ext cx="784473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733478" y="4090987"/>
            <a:ext cx="823763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5557242" y="4090987"/>
            <a:ext cx="83537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71525" y="4523333"/>
            <a:ext cx="2320081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3091606" y="4523333"/>
            <a:ext cx="857398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3949005" y="4523333"/>
            <a:ext cx="784473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733478" y="4523333"/>
            <a:ext cx="823763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5557242" y="4523333"/>
            <a:ext cx="835372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771525" y="4756695"/>
            <a:ext cx="264642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SVD Accuracy Win</a:t>
            </a:r>
          </a:p>
        </p:txBody>
      </p:sp>
      <p:sp>
        <p:nvSpPr>
          <p:cNvPr id="282" name="Google Shape;282;p19"/>
          <p:cNvSpPr txBox="1"/>
          <p:nvPr/>
        </p:nvSpPr>
        <p:spPr>
          <a:xfrm>
            <a:off x="771525" y="4909095"/>
            <a:ext cx="2520404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Best RMSE score of </a:t>
            </a:r>
            <a:r>
              <a:rPr lang="en-US" sz="825" b="0" i="0" u="none" strike="noStrike" cap="none" dirty="0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0.959</a:t>
            </a:r>
            <a:r>
              <a:rPr lang="en-US" sz="82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(-1.9% error over baseline), validating low-rank theory.</a:t>
            </a:r>
          </a:p>
        </p:txBody>
      </p:sp>
      <p:sp>
        <p:nvSpPr>
          <p:cNvPr id="283" name="Google Shape;283;p19"/>
          <p:cNvSpPr txBox="1"/>
          <p:nvPr/>
        </p:nvSpPr>
        <p:spPr>
          <a:xfrm>
            <a:off x="3368129" y="4756695"/>
            <a:ext cx="317570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Item-CF List Win</a:t>
            </a:r>
          </a:p>
        </p:txBody>
      </p:sp>
      <p:sp>
        <p:nvSpPr>
          <p:cNvPr id="284" name="Google Shape;284;p19"/>
          <p:cNvSpPr txBox="1"/>
          <p:nvPr/>
        </p:nvSpPr>
        <p:spPr>
          <a:xfrm>
            <a:off x="3368129" y="4909095"/>
            <a:ext cx="302448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Precision@10 of </a:t>
            </a:r>
            <a:r>
              <a:rPr lang="en-US" sz="825" b="0" i="0" u="none" strike="noStrike" cap="none" dirty="0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6.2%</a:t>
            </a:r>
            <a:r>
              <a:rPr lang="en-US" sz="825" b="0" i="0" u="none" strike="noStrike" cap="none" dirty="0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(2.5x increase over SVD) due to less conservative list mapping.</a:t>
            </a:r>
          </a:p>
        </p:txBody>
      </p:sp>
      <p:sp>
        <p:nvSpPr>
          <p:cNvPr id="286" name="Google Shape;286;p19"/>
          <p:cNvSpPr txBox="1"/>
          <p:nvPr/>
        </p:nvSpPr>
        <p:spPr>
          <a:xfrm>
            <a:off x="966787" y="581025"/>
            <a:ext cx="104536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PERFORMANCE RESULTS</a:t>
            </a:r>
          </a:p>
        </p:txBody>
      </p:sp>
      <p:sp>
        <p:nvSpPr>
          <p:cNvPr id="287" name="Google Shape;287;p19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Results on u1.test (20,000 ratings)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99745"/>
            <a:ext cx="371475" cy="85725"/>
          </a:xfrm>
          <a:prstGeom prst="rect">
            <a:avLst/>
          </a:prstGeom>
        </p:spPr>
      </p:pic>
      <p:pic>
        <p:nvPicPr>
          <p:cNvPr id="4" name="图片 0" descr="03_stakeholder_rmse_lif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9405" y="1801495"/>
            <a:ext cx="5166995" cy="3254375"/>
          </a:xfrm>
          <a:prstGeom prst="rect">
            <a:avLst/>
          </a:prstGeom>
        </p:spPr>
      </p:pic>
      <p:pic>
        <p:nvPicPr>
          <p:cNvPr id="326" name="Google Shape;326;p21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670040" y="5386070"/>
            <a:ext cx="5166360" cy="7340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69405" y="5505146"/>
            <a:ext cx="5167630" cy="737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200" b="1" dirty="0">
                <a:solidFill>
                  <a:srgbClr val="1E293B"/>
                </a:solidFill>
                <a:latin typeface="Plus Jakarta Sans"/>
                <a:cs typeface="Plus Jakarta Sans"/>
              </a:rPr>
              <a:t>Prediction Behavior: All models exhibit conservative forecasting, compressing rating outputs toward the 3–4 star range.</a:t>
            </a:r>
            <a:endParaRPr lang="zh-CN" altLang="en-US" sz="1200" b="1" dirty="0">
              <a:solidFill>
                <a:srgbClr val="1E293B"/>
              </a:solidFill>
              <a:latin typeface="Plus Jakarta Sans"/>
              <a:cs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585787"/>
            <a:ext cx="128587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0"/>
          <p:cNvSpPr txBox="1"/>
          <p:nvPr/>
        </p:nvSpPr>
        <p:spPr>
          <a:xfrm>
            <a:off x="771525" y="6400800"/>
            <a:ext cx="17526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 DEPLOYMENT STRATEGY</a:t>
            </a:r>
          </a:p>
        </p:txBody>
      </p:sp>
      <p:sp>
        <p:nvSpPr>
          <p:cNvPr id="298" name="Google Shape;298;p20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8 OF 11</a:t>
            </a:r>
          </a:p>
        </p:txBody>
      </p:sp>
      <p:sp>
        <p:nvSpPr>
          <p:cNvPr id="299" name="Google Shape;299;p20"/>
          <p:cNvSpPr txBox="1"/>
          <p:nvPr/>
        </p:nvSpPr>
        <p:spPr>
          <a:xfrm>
            <a:off x="771525" y="2317849"/>
            <a:ext cx="536567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Deployment Playbook</a:t>
            </a:r>
          </a:p>
        </p:txBody>
      </p:sp>
      <p:graphicFrame>
        <p:nvGraphicFramePr>
          <p:cNvPr id="300" name="Google Shape;300;p20"/>
          <p:cNvGraphicFramePr/>
          <p:nvPr/>
        </p:nvGraphicFramePr>
        <p:xfrm>
          <a:off x="771525" y="2660749"/>
          <a:ext cx="5110150" cy="2542600"/>
        </p:xfrm>
        <a:graphic>
          <a:graphicData uri="http://schemas.openxmlformats.org/drawingml/2006/table">
            <a:tbl>
              <a:tblPr firstRow="1" bandRow="1">
                <a:noFill/>
                <a:tableStyleId>{696B24EE-0E68-4FE5-B13A-0F21683E1A15}</a:tableStyleId>
              </a:tblPr>
              <a:tblGrid>
                <a:gridCol w="180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Commercial Goal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Best Model Selection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Rationale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Minimize rating prediction error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C5A05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Matrix Factorization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Lowest RMSE score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Maximize playlist conversions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2E5B82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Item-Based CF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Highest Precision@10 list score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 explainability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Bias Baseline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Auditable user &amp; item offsets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1" name="Google Shape;301;p20"/>
          <p:cNvSpPr txBox="1"/>
          <p:nvPr/>
        </p:nvSpPr>
        <p:spPr>
          <a:xfrm>
            <a:off x="771525" y="5317628"/>
            <a:ext cx="5110162" cy="36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Engineers must match deployments to localized catalog requirements instead of declaring a single system 'winner'.</a:t>
            </a:r>
          </a:p>
        </p:txBody>
      </p:sp>
      <p:sp>
        <p:nvSpPr>
          <p:cNvPr id="302" name="Google Shape;302;p20"/>
          <p:cNvSpPr/>
          <p:nvPr/>
        </p:nvSpPr>
        <p:spPr>
          <a:xfrm>
            <a:off x="771525" y="3237904"/>
            <a:ext cx="1802606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2574131" y="3237904"/>
            <a:ext cx="1552575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126706" y="3237904"/>
            <a:ext cx="1754981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7341393" y="4307234"/>
            <a:ext cx="3048000" cy="19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</p:txBody>
      </p:sp>
      <p:sp>
        <p:nvSpPr>
          <p:cNvPr id="308" name="Google Shape;308;p20"/>
          <p:cNvSpPr/>
          <p:nvPr/>
        </p:nvSpPr>
        <p:spPr>
          <a:xfrm>
            <a:off x="771525" y="3897808"/>
            <a:ext cx="1802606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2574131" y="3897808"/>
            <a:ext cx="1552575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4126706" y="3897808"/>
            <a:ext cx="1754981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771525" y="4543425"/>
            <a:ext cx="1802606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2574131" y="4543425"/>
            <a:ext cx="1552575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4126706" y="4543425"/>
            <a:ext cx="1754981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771525" y="5189041"/>
            <a:ext cx="1802606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2574131" y="5189041"/>
            <a:ext cx="1552575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4126706" y="5189041"/>
            <a:ext cx="1754981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976312" y="581025"/>
            <a:ext cx="104441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BUSINESS INTEGRATION</a:t>
            </a:r>
          </a:p>
        </p:txBody>
      </p:sp>
      <p:sp>
        <p:nvSpPr>
          <p:cNvPr id="319" name="Google Shape;319;p20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From Metrics to Product Decisions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95300"/>
            <a:ext cx="371475" cy="85725"/>
          </a:xfrm>
          <a:prstGeom prst="rect">
            <a:avLst/>
          </a:prstGeom>
        </p:spPr>
      </p:pic>
      <p:pic>
        <p:nvPicPr>
          <p:cNvPr id="3" name="图片 0" descr="04_recommendation_previe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0" y="2376170"/>
            <a:ext cx="5016500" cy="3239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3075305"/>
            <a:ext cx="5109845" cy="211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04280" y="3075305"/>
            <a:ext cx="5109845" cy="211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71525" y="585787"/>
            <a:ext cx="128587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1"/>
          <p:cNvSpPr txBox="1"/>
          <p:nvPr/>
        </p:nvSpPr>
        <p:spPr>
          <a:xfrm>
            <a:off x="771525" y="6400800"/>
            <a:ext cx="11715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 BOUNDARIES</a:t>
            </a:r>
          </a:p>
        </p:txBody>
      </p:sp>
      <p:sp>
        <p:nvSpPr>
          <p:cNvPr id="331" name="Google Shape;331;p21"/>
          <p:cNvSpPr txBox="1"/>
          <p:nvPr/>
        </p:nvSpPr>
        <p:spPr>
          <a:xfrm>
            <a:off x="10706100" y="64008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9 OF 11</a:t>
            </a:r>
          </a:p>
        </p:txBody>
      </p:sp>
      <p:sp>
        <p:nvSpPr>
          <p:cNvPr id="332" name="Google Shape;332;p21"/>
          <p:cNvSpPr txBox="1"/>
          <p:nvPr/>
        </p:nvSpPr>
        <p:spPr>
          <a:xfrm>
            <a:off x="1009650" y="3313509"/>
            <a:ext cx="486560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5A05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COLD-START PROBLEM</a:t>
            </a:r>
          </a:p>
        </p:txBody>
      </p:sp>
      <p:sp>
        <p:nvSpPr>
          <p:cNvPr id="333" name="Google Shape;333;p21"/>
          <p:cNvSpPr txBox="1"/>
          <p:nvPr/>
        </p:nvSpPr>
        <p:spPr>
          <a:xfrm>
            <a:off x="1009650" y="3627834"/>
            <a:ext cx="4633912" cy="57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 active profiles or fresh catalog entries without historical interaction indices bypass embeddings, forcing system fallbacks to global median values.</a:t>
            </a:r>
          </a:p>
        </p:txBody>
      </p:sp>
      <p:sp>
        <p:nvSpPr>
          <p:cNvPr id="334" name="Google Shape;334;p21"/>
          <p:cNvSpPr txBox="1"/>
          <p:nvPr/>
        </p:nvSpPr>
        <p:spPr>
          <a:xfrm>
            <a:off x="1009650" y="4301728"/>
            <a:ext cx="4633912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Solution:</a:t>
            </a:r>
            <a:r>
              <a:rPr lang="en-US" sz="101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Popularity-based seeding is required during customer onboardings.</a:t>
            </a:r>
          </a:p>
        </p:txBody>
      </p:sp>
      <p:sp>
        <p:nvSpPr>
          <p:cNvPr id="335" name="Google Shape;335;p21"/>
          <p:cNvSpPr txBox="1"/>
          <p:nvPr/>
        </p:nvSpPr>
        <p:spPr>
          <a:xfrm>
            <a:off x="6548437" y="3313509"/>
            <a:ext cx="486560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 BIASES</a:t>
            </a:r>
          </a:p>
        </p:txBody>
      </p:sp>
      <p:sp>
        <p:nvSpPr>
          <p:cNvPr id="336" name="Google Shape;336;p21"/>
          <p:cNvSpPr txBox="1"/>
          <p:nvPr/>
        </p:nvSpPr>
        <p:spPr>
          <a:xfrm>
            <a:off x="6548437" y="3627834"/>
            <a:ext cx="4633912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Demographic Imbalance:</a:t>
            </a:r>
            <a:r>
              <a:rPr lang="en-US" sz="101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 skew towards young males (74%) leads to weaker recommendation signals for other cohorts.</a:t>
            </a:r>
          </a:p>
        </p:txBody>
      </p:sp>
      <p:sp>
        <p:nvSpPr>
          <p:cNvPr id="337" name="Google Shape;337;p21"/>
          <p:cNvSpPr txBox="1"/>
          <p:nvPr/>
        </p:nvSpPr>
        <p:spPr>
          <a:xfrm>
            <a:off x="6548437" y="4089796"/>
            <a:ext cx="4633912" cy="93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Over-compression:</a:t>
            </a:r>
            <a:r>
              <a:rPr lang="en-US" sz="101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Conservative behavior clusters scores around 3–4 stars, rendering 1-star forecasts highly inaccurate.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"/>
              </a:rPr>
              <a:t>Evaluation Limits</a:t>
            </a:r>
            <a:r>
              <a:rPr lang="en-US" sz="1010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"/>
              </a:rPr>
              <a:t>: </a:t>
            </a:r>
            <a:r>
              <a:rPr lang="en-US" altLang="zh-CN" sz="1010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fixed split (u1); robust confirmation requires k-fold Cross-Validation.</a:t>
            </a:r>
          </a:p>
        </p:txBody>
      </p:sp>
      <p:pic>
        <p:nvPicPr>
          <p:cNvPr id="338" name="Google Shape;338;p21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09650" y="334208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548437" y="3342084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1"/>
          <p:cNvSpPr txBox="1"/>
          <p:nvPr/>
        </p:nvSpPr>
        <p:spPr>
          <a:xfrm>
            <a:off x="976312" y="581025"/>
            <a:ext cx="104441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EDGE CASE ANALYSIS</a:t>
            </a:r>
          </a:p>
        </p:txBody>
      </p:sp>
      <p:sp>
        <p:nvSpPr>
          <p:cNvPr id="341" name="Google Shape;341;p21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Can Go Wrong (Failure Modes)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511810"/>
            <a:ext cx="37147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332315" y="2546449"/>
            <a:ext cx="4088159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539329" y="465147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722340" y="465147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905351" y="465147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2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088362" y="465147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2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271373" y="465147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2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771525" y="585787"/>
            <a:ext cx="15716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2"/>
          <p:cNvSpPr txBox="1"/>
          <p:nvPr/>
        </p:nvSpPr>
        <p:spPr>
          <a:xfrm>
            <a:off x="771525" y="6400800"/>
            <a:ext cx="5810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SYNTHESIS</a:t>
            </a:r>
          </a:p>
        </p:txBody>
      </p:sp>
      <p:sp>
        <p:nvSpPr>
          <p:cNvPr id="357" name="Google Shape;357;p22"/>
          <p:cNvSpPr txBox="1"/>
          <p:nvPr/>
        </p:nvSpPr>
        <p:spPr>
          <a:xfrm>
            <a:off x="10648950" y="6400800"/>
            <a:ext cx="7715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10 OF 11</a:t>
            </a:r>
          </a:p>
        </p:txBody>
      </p:sp>
      <p:sp>
        <p:nvSpPr>
          <p:cNvPr id="358" name="Google Shape;358;p22"/>
          <p:cNvSpPr/>
          <p:nvPr/>
        </p:nvSpPr>
        <p:spPr>
          <a:xfrm>
            <a:off x="771525" y="5043413"/>
            <a:ext cx="10648950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723606" y="5127724"/>
            <a:ext cx="201259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Pipeline Ingest</a:t>
            </a:r>
          </a:p>
        </p:txBody>
      </p:sp>
      <p:sp>
        <p:nvSpPr>
          <p:cNvPr id="360" name="Google Shape;360;p22"/>
          <p:cNvSpPr txBox="1"/>
          <p:nvPr/>
        </p:nvSpPr>
        <p:spPr>
          <a:xfrm>
            <a:off x="771525" y="5318224"/>
            <a:ext cx="1916757" cy="13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Cleaned raw tabular csv</a:t>
            </a:r>
          </a:p>
        </p:txBody>
      </p:sp>
      <p:sp>
        <p:nvSpPr>
          <p:cNvPr id="361" name="Google Shape;361;p22"/>
          <p:cNvSpPr txBox="1"/>
          <p:nvPr/>
        </p:nvSpPr>
        <p:spPr>
          <a:xfrm>
            <a:off x="2906617" y="5127724"/>
            <a:ext cx="201259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SVD Latents</a:t>
            </a:r>
          </a:p>
        </p:txBody>
      </p:sp>
      <p:sp>
        <p:nvSpPr>
          <p:cNvPr id="362" name="Google Shape;362;p22"/>
          <p:cNvSpPr txBox="1"/>
          <p:nvPr/>
        </p:nvSpPr>
        <p:spPr>
          <a:xfrm>
            <a:off x="2954535" y="5318224"/>
            <a:ext cx="1916757" cy="13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Optimized 40 latent factors</a:t>
            </a:r>
          </a:p>
        </p:txBody>
      </p:sp>
      <p:sp>
        <p:nvSpPr>
          <p:cNvPr id="363" name="Google Shape;363;p22"/>
          <p:cNvSpPr txBox="1"/>
          <p:nvPr/>
        </p:nvSpPr>
        <p:spPr>
          <a:xfrm>
            <a:off x="5089627" y="5127724"/>
            <a:ext cx="201259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Evaluation</a:t>
            </a:r>
          </a:p>
        </p:txBody>
      </p:sp>
      <p:sp>
        <p:nvSpPr>
          <p:cNvPr id="364" name="Google Shape;364;p22"/>
          <p:cNvSpPr txBox="1"/>
          <p:nvPr/>
        </p:nvSpPr>
        <p:spPr>
          <a:xfrm>
            <a:off x="5136911" y="5416649"/>
            <a:ext cx="1916757" cy="13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failure boundaries</a:t>
            </a:r>
          </a:p>
        </p:txBody>
      </p:sp>
      <p:sp>
        <p:nvSpPr>
          <p:cNvPr id="365" name="Google Shape;365;p22"/>
          <p:cNvSpPr txBox="1"/>
          <p:nvPr/>
        </p:nvSpPr>
        <p:spPr>
          <a:xfrm>
            <a:off x="7272638" y="5127724"/>
            <a:ext cx="201259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Hybrid Model</a:t>
            </a:r>
          </a:p>
        </p:txBody>
      </p:sp>
      <p:sp>
        <p:nvSpPr>
          <p:cNvPr id="366" name="Google Shape;366;p22"/>
          <p:cNvSpPr txBox="1"/>
          <p:nvPr/>
        </p:nvSpPr>
        <p:spPr>
          <a:xfrm>
            <a:off x="7320557" y="5318224"/>
            <a:ext cx="1916757" cy="13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Incorporate genre features</a:t>
            </a:r>
          </a:p>
        </p:txBody>
      </p:sp>
      <p:sp>
        <p:nvSpPr>
          <p:cNvPr id="367" name="Google Shape;367;p22"/>
          <p:cNvSpPr txBox="1"/>
          <p:nvPr/>
        </p:nvSpPr>
        <p:spPr>
          <a:xfrm>
            <a:off x="9455649" y="5127724"/>
            <a:ext cx="201259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Fairness Audit</a:t>
            </a:r>
          </a:p>
        </p:txBody>
      </p:sp>
      <p:sp>
        <p:nvSpPr>
          <p:cNvPr id="368" name="Google Shape;368;p22"/>
          <p:cNvSpPr txBox="1"/>
          <p:nvPr/>
        </p:nvSpPr>
        <p:spPr>
          <a:xfrm>
            <a:off x="9503568" y="5318224"/>
            <a:ext cx="1916757" cy="13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Correct demographic skew</a:t>
            </a:r>
          </a:p>
        </p:txBody>
      </p:sp>
      <p:sp>
        <p:nvSpPr>
          <p:cNvPr id="369" name="Google Shape;369;p22"/>
          <p:cNvSpPr txBox="1"/>
          <p:nvPr/>
        </p:nvSpPr>
        <p:spPr>
          <a:xfrm>
            <a:off x="1000125" y="2546449"/>
            <a:ext cx="59035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End-to-End Pipeline: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Delivered clean, reproducible engineering logic spanning ingest, custom data exploration, modeling, and deployment guides.</a:t>
            </a:r>
          </a:p>
        </p:txBody>
      </p:sp>
      <p:sp>
        <p:nvSpPr>
          <p:cNvPr id="370" name="Google Shape;370;p22"/>
          <p:cNvSpPr txBox="1"/>
          <p:nvPr/>
        </p:nvSpPr>
        <p:spPr>
          <a:xfrm>
            <a:off x="1000125" y="3136999"/>
            <a:ext cx="59035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SVD Strengths: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Latent structures reliably capture broad global ratings, while neighborhood architectures better preserve ranking metrics.</a:t>
            </a:r>
          </a:p>
        </p:txBody>
      </p:sp>
      <p:sp>
        <p:nvSpPr>
          <p:cNvPr id="371" name="Google Shape;371;p22"/>
          <p:cNvSpPr txBox="1"/>
          <p:nvPr/>
        </p:nvSpPr>
        <p:spPr>
          <a:xfrm>
            <a:off x="1000125" y="3727549"/>
            <a:ext cx="59035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EDA Implications:</a:t>
            </a:r>
            <a:r>
              <a:rPr lang="en-US" sz="1125" b="0" i="0" u="none" strike="noStrike" cap="none">
                <a:solidFill>
                  <a:srgbClr val="57657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Recognizing historical skews remains vital to prevent propagating popularity feedback loops.</a:t>
            </a:r>
          </a:p>
        </p:txBody>
      </p:sp>
      <p:sp>
        <p:nvSpPr>
          <p:cNvPr id="372" name="Google Shape;372;p22"/>
          <p:cNvSpPr txBox="1"/>
          <p:nvPr/>
        </p:nvSpPr>
        <p:spPr>
          <a:xfrm>
            <a:off x="8221176" y="3131343"/>
            <a:ext cx="2310288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E5B8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93.7%</a:t>
            </a:r>
          </a:p>
        </p:txBody>
      </p:sp>
      <p:sp>
        <p:nvSpPr>
          <p:cNvPr id="373" name="Google Shape;373;p22"/>
          <p:cNvSpPr txBox="1"/>
          <p:nvPr/>
        </p:nvSpPr>
        <p:spPr>
          <a:xfrm>
            <a:off x="8276183" y="3550443"/>
            <a:ext cx="220027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SPARSITY SUCCESSFULLY RESOLVED</a:t>
            </a:r>
          </a:p>
        </p:txBody>
      </p:sp>
      <p:pic>
        <p:nvPicPr>
          <p:cNvPr id="374" name="Google Shape;374;p22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771525" y="2589311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2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771525" y="3179861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771525" y="3770411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 txBox="1"/>
          <p:nvPr/>
        </p:nvSpPr>
        <p:spPr>
          <a:xfrm>
            <a:off x="1004887" y="581025"/>
            <a:ext cx="10415587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EXECUTION SUMMARY</a:t>
            </a:r>
          </a:p>
        </p:txBody>
      </p:sp>
      <p:sp>
        <p:nvSpPr>
          <p:cNvPr id="378" name="Google Shape;378;p22"/>
          <p:cNvSpPr txBox="1"/>
          <p:nvPr/>
        </p:nvSpPr>
        <p:spPr>
          <a:xfrm>
            <a:off x="771525" y="819150"/>
            <a:ext cx="111813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 &amp; Future Roadmap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499745"/>
            <a:ext cx="37147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6276975"/>
            <a:ext cx="106489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71525" y="585787"/>
            <a:ext cx="128587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3"/>
          <p:cNvSpPr txBox="1"/>
          <p:nvPr/>
        </p:nvSpPr>
        <p:spPr>
          <a:xfrm>
            <a:off x="771525" y="6400800"/>
            <a:ext cx="13811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AUDITING &amp; REFERENCES</a:t>
            </a:r>
          </a:p>
        </p:txBody>
      </p:sp>
      <p:sp>
        <p:nvSpPr>
          <p:cNvPr id="389" name="Google Shape;389;p23"/>
          <p:cNvSpPr txBox="1"/>
          <p:nvPr/>
        </p:nvSpPr>
        <p:spPr>
          <a:xfrm>
            <a:off x="10677525" y="6400800"/>
            <a:ext cx="74295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11 OF 11</a:t>
            </a:r>
          </a:p>
        </p:txBody>
      </p:sp>
      <p:sp>
        <p:nvSpPr>
          <p:cNvPr id="390" name="Google Shape;390;p23"/>
          <p:cNvSpPr txBox="1"/>
          <p:nvPr/>
        </p:nvSpPr>
        <p:spPr>
          <a:xfrm>
            <a:off x="771525" y="2607171"/>
            <a:ext cx="536567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 Diagnostics</a:t>
            </a:r>
          </a:p>
        </p:txBody>
      </p:sp>
      <p:sp>
        <p:nvSpPr>
          <p:cNvPr id="391" name="Google Shape;391;p23"/>
          <p:cNvSpPr txBox="1"/>
          <p:nvPr/>
        </p:nvSpPr>
        <p:spPr>
          <a:xfrm>
            <a:off x="6310312" y="2607171"/>
            <a:ext cx="536567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Scientific Reference Card</a:t>
            </a:r>
          </a:p>
        </p:txBody>
      </p:sp>
      <p:graphicFrame>
        <p:nvGraphicFramePr>
          <p:cNvPr id="392" name="Google Shape;392;p23"/>
          <p:cNvGraphicFramePr/>
          <p:nvPr>
            <p:extLst>
              <p:ext uri="{D42A27DB-BD31-4B8C-83A1-F6EECF244321}">
                <p14:modId xmlns:p14="http://schemas.microsoft.com/office/powerpoint/2010/main" val="94410883"/>
              </p:ext>
            </p:extLst>
          </p:nvPr>
        </p:nvGraphicFramePr>
        <p:xfrm>
          <a:off x="6310312" y="2969121"/>
          <a:ext cx="5110150" cy="2137000"/>
        </p:xfrm>
        <a:graphic>
          <a:graphicData uri="http://schemas.openxmlformats.org/drawingml/2006/table">
            <a:tbl>
              <a:tblPr firstRow="1" bandRow="1">
                <a:noFill/>
                <a:tableStyleId>{696B24EE-0E68-4FE5-B13A-0F21683E1A15}</a:tableStyleId>
              </a:tblPr>
              <a:tblGrid>
                <a:gridCol w="148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Researcher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 dirty="0">
                          <a:solidFill>
                            <a:srgbClr val="2E5B8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 Responsibility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 err="1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李仕轩</a:t>
                      </a:r>
                      <a:r>
                        <a:rPr lang="en-US" sz="1050" b="1" i="0" u="none" strike="noStrike" cap="none" dirty="0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(Lead)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Experimental setup &amp; evaluative scoping</a:t>
                      </a:r>
                      <a:endParaRPr lang="en-US" sz="1050" b="0" i="0" u="none" strike="noStrike" cap="none" dirty="0">
                        <a:solidFill>
                          <a:srgbClr val="57657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刘畅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Pipeline ingest &amp; exploratory findings</a:t>
                      </a:r>
                      <a:endParaRPr lang="en-US" sz="1050" b="0" i="0" u="none" strike="noStrike" cap="none" dirty="0">
                        <a:solidFill>
                          <a:srgbClr val="57657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冯博伦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Baseline development &amp; similarity design</a:t>
                      </a:r>
                      <a:endParaRPr lang="en-US" sz="1050" b="0" i="0" u="none" strike="noStrike" cap="none" dirty="0">
                        <a:solidFill>
                          <a:srgbClr val="57657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 err="1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郭甲进</a:t>
                      </a:r>
                      <a:endParaRPr lang="en-US" sz="1050" b="1" i="0" u="none" strike="noStrike" cap="none" dirty="0">
                        <a:solidFill>
                          <a:srgbClr val="57657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57657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SVD tuning &amp; hyperparameter selection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3" name="Google Shape;393;p23"/>
          <p:cNvSpPr txBox="1"/>
          <p:nvPr/>
        </p:nvSpPr>
        <p:spPr>
          <a:xfrm>
            <a:off x="6310312" y="5201394"/>
            <a:ext cx="5110162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900" b="0" i="0" u="none" strike="noStrike" cap="none" dirty="0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Project Repository: </a:t>
            </a:r>
            <a:r>
              <a:rPr lang="en-US" sz="900" dirty="0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https://github.com/36712/Data-Science-Projects</a:t>
            </a:r>
            <a:endParaRPr lang="en-US" sz="900" b="0" i="0" u="none" strike="noStrike" cap="none" dirty="0">
              <a:solidFill>
                <a:srgbClr val="2E5B8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6310312" y="3348186"/>
            <a:ext cx="1482774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7793087" y="3348186"/>
            <a:ext cx="3627387" cy="19050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99" name="Google Shape;399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310312" y="523949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3"/>
          <p:cNvSpPr/>
          <p:nvPr/>
        </p:nvSpPr>
        <p:spPr>
          <a:xfrm>
            <a:off x="6310312" y="3794819"/>
            <a:ext cx="1482774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7793087" y="3794819"/>
            <a:ext cx="3627387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6310312" y="4227165"/>
            <a:ext cx="1482774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7793087" y="4227165"/>
            <a:ext cx="3627387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6310312" y="4659510"/>
            <a:ext cx="1482774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7793087" y="4659510"/>
            <a:ext cx="3627387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6310312" y="5091856"/>
            <a:ext cx="1482774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7793087" y="5091856"/>
            <a:ext cx="3627387" cy="9525"/>
          </a:xfrm>
          <a:prstGeom prst="rect">
            <a:avLst/>
          </a:prstGeom>
          <a:solidFill>
            <a:srgbClr val="EAE8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976312" y="581025"/>
            <a:ext cx="10444162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2E5B8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ACADEMIC APPENDIX</a:t>
            </a:r>
          </a:p>
        </p:txBody>
      </p:sp>
      <p:sp>
        <p:nvSpPr>
          <p:cNvPr id="410" name="Google Shape;410;p23"/>
          <p:cNvSpPr txBox="1"/>
          <p:nvPr/>
        </p:nvSpPr>
        <p:spPr>
          <a:xfrm>
            <a:off x="771525" y="819150"/>
            <a:ext cx="1118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CN" altLang="zh-CN" sz="4000" dirty="0">
                <a:solidFill>
                  <a:srgbClr val="1E293B"/>
                </a:solidFill>
                <a:latin typeface="DM Serif Display"/>
              </a:rPr>
              <a:t>THANK YOU</a:t>
            </a:r>
            <a:r>
              <a:rPr lang="en-US" altLang="zh-CN" sz="4000" dirty="0">
                <a:solidFill>
                  <a:srgbClr val="1E293B"/>
                </a:solidFill>
                <a:latin typeface="DM Serif Display"/>
              </a:rPr>
              <a:t> !</a:t>
            </a:r>
            <a:endParaRPr lang="en-US" sz="4000" dirty="0">
              <a:solidFill>
                <a:srgbClr val="1E293B"/>
              </a:solidFill>
              <a:latin typeface="DM Serif Display"/>
              <a:sym typeface="DM Serif Display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99745"/>
            <a:ext cx="371475" cy="85725"/>
          </a:xfrm>
          <a:prstGeom prst="rect">
            <a:avLst/>
          </a:prstGeom>
        </p:spPr>
      </p:pic>
      <p:pic>
        <p:nvPicPr>
          <p:cNvPr id="3" name="图片 0" descr="02_prediction_quality_m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" y="2969260"/>
            <a:ext cx="5593715" cy="22720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965</Words>
  <Application>Microsoft Office PowerPoint</Application>
  <PresentationFormat>宽屏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DM Serif Display</vt:lpstr>
      <vt:lpstr>Plus Jakarta Sans</vt:lpstr>
      <vt:lpstr>Arial</vt:lpstr>
      <vt:lpstr>Plus Jakarta Sans SemiBold</vt:lpstr>
      <vt:lpstr>Calibri</vt:lpstr>
      <vt:lpstr>Plus Jakarta Sans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1926556684@qq.com</cp:lastModifiedBy>
  <cp:revision>8</cp:revision>
  <dcterms:created xsi:type="dcterms:W3CDTF">2026-06-28T13:35:00Z</dcterms:created>
  <dcterms:modified xsi:type="dcterms:W3CDTF">2026-06-29T13:48:18Z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14CE1323FD564EC0AEB8580641A0C036_13</vt:lpwstr>
  </property>
  <property fmtid="{D5CDD505-2E9C-101B-9397-08002B2CF9AE}" pid="3" name="KSOProductBuildVer">
    <vt:lpwstr>2052-12.1.0.26895</vt:lpwstr>
  </property>
</Properties>
</file>